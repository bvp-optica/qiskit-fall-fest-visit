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Roadmap: states and unitaries, the QAOA circuit, why it is built this way, then our work on mixer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Motivate with scheduling, graph and finance problems that map to Ising/QUBO.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2 qubits = 4 amplitudes.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Spectral decomposition is the tool used for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Key slide: unitary = norm preserving = valid physics, and reversible.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Eigenvalues on the unit circle return in our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H_C is diagonal, so its terms commute and the exponential factorizes. Probabilities are unchanged; the problem is written into the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Derive the single-qubit identity from the spectral decomposition.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Hybrid loop: prepare, measure, update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The Trotterized-adiabatic view is a good intuition for alternation.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Transition: the mixer is a design choice, so how do we choose?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Small gaps mean slow quantum-walk mixing; these are the analogues for QAOA mixers.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Intuition only: fewer distinct, closely packed eigenvalues means smaller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T(4,4) is isomorphic to Q(4): same spectrum, different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30 seconds, then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5" y="406357"/>
            <a:ext cx="10566357" cy="67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48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5" y="1381655"/>
            <a:ext cx="10566415" cy="466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5" y="406357"/>
            <a:ext cx="10566357" cy="67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48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5" y="1381655"/>
            <a:ext cx="10566415" cy="466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2140920"/>
            <a:ext cx="10883348" cy="1366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The Quantum Approximate Optimization Algorithm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3659703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3659703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Unitaries, mixers, and a spectral view of mixer design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4266113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4266113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Jasjyot Singh Gulati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6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Combinatorial Optimization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1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1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Binary optimization problems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1759333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1759333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find a bit string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length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that minimizes a cost</a:t>
            </a:r>
            <a:endParaRPr lang="en-US" sz="2200" dirty="0"/>
          </a:p>
        </p:txBody>
      </p:sp>
      <p:pic>
        <p:nvPicPr>
          <p:cNvPr id="7" name="Image 0" descr="min_{x∈{0,1}^{q}} C(x), C(x) = ∑_{a} C_{a}(x)">    </p:cNvPr>
          <p:cNvPicPr>
            <a:picLocks noChangeAspect="1"/>
          </p:cNvPicPr>
          <p:nvPr/>
        </p:nvPicPr>
        <p:blipFill>
          <a:blip r:embed="rId1"/>
          <a:srcRect l="0" r="0" t="-183" b="-183"/>
          <a:stretch/>
        </p:blipFill>
        <p:spPr>
          <a:xfrm>
            <a:off x="812785" y="2235509"/>
            <a:ext cx="10566357" cy="5333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8356" y="2895791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11212" y="2895791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exhaustive search checks 2^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strings; many such problems are NP-hard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68356" y="3371969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11212" y="3371969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Ising / QUBO costs, with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1 − 2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endParaRPr lang="en-US" sz="2200" dirty="0"/>
          </a:p>
        </p:txBody>
      </p:sp>
      <p:pic>
        <p:nvPicPr>
          <p:cNvPr id="12" name="Image 1" descr="C(x) = ∑_{(i,j)} J_{ij} z_{i} z_{j} + ∑_{i} h_{i} z_{i}">    </p:cNvPr>
          <p:cNvPicPr>
            <a:picLocks noChangeAspect="1"/>
          </p:cNvPicPr>
          <p:nvPr/>
        </p:nvPicPr>
        <p:blipFill>
          <a:blip r:embed="rId2"/>
          <a:srcRect l="-128" r="-128" t="0" b="0"/>
          <a:stretch/>
        </p:blipFill>
        <p:spPr>
          <a:xfrm>
            <a:off x="812785" y="3848145"/>
            <a:ext cx="10566357" cy="488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Quantum States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1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1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States and measurement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1759333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1759333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 of </a:t>
            </a:r>
            <a:r>
              <a:rPr lang="en-US" sz="2200" i="1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qubits: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 complex vector, one amplitude per bit string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endParaRPr lang="en-US" sz="2200" dirty="0"/>
          </a:p>
        </p:txBody>
      </p:sp>
      <p:pic>
        <p:nvPicPr>
          <p:cNvPr id="7" name="Image 0" descr="|ψ⟩ = ∑_{x} α_{x} |x⟩, ∑_{x} |α_{x}|^{2} = 1">    </p:cNvPr>
          <p:cNvPicPr>
            <a:picLocks noChangeAspect="1"/>
          </p:cNvPicPr>
          <p:nvPr/>
        </p:nvPicPr>
        <p:blipFill>
          <a:blip r:embed="rId1"/>
          <a:srcRect l="0" r="0" t="-183" b="-183"/>
          <a:stretch/>
        </p:blipFill>
        <p:spPr>
          <a:xfrm>
            <a:off x="812785" y="2235510"/>
            <a:ext cx="10566357" cy="5333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8356" y="2895792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11212" y="2895792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bit string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observed with probability</a:t>
            </a:r>
            <a:endParaRPr lang="en-US" sz="2200" dirty="0"/>
          </a:p>
        </p:txBody>
      </p:sp>
      <p:pic>
        <p:nvPicPr>
          <p:cNvPr id="10" name="Image 1" descr="P(x) = |α_{x}|^{2}">    </p:cNvPr>
          <p:cNvPicPr>
            <a:picLocks noChangeAspect="1"/>
          </p:cNvPicPr>
          <p:nvPr/>
        </p:nvPicPr>
        <p:blipFill>
          <a:blip r:embed="rId2"/>
          <a:srcRect l="0" r="0" t="-183" b="-183"/>
          <a:stretch/>
        </p:blipFill>
        <p:spPr>
          <a:xfrm>
            <a:off x="812785" y="3371968"/>
            <a:ext cx="10566357" cy="5333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8356" y="4032252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11212" y="4032252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Phases of the amplitudes are invisible to a direct measurement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Operations Are Matrices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2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2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Evolution of a state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1759333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1759333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operation is a matrix acting on the vector</a:t>
            </a:r>
            <a:endParaRPr lang="en-US" sz="2200" dirty="0"/>
          </a:p>
        </p:txBody>
      </p:sp>
      <p:pic>
        <p:nvPicPr>
          <p:cNvPr id="7" name="Image 0" descr="|ψ′⟩ = U |ψ⟩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812785" y="2235510"/>
            <a:ext cx="10566357" cy="5778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785" y="2940256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155641" y="2940256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Hermitian matrices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168356" y="3495808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11212" y="3495808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Spectral decomposition: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real eigenvalues λ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ⱼ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orthonormal eigenvectors |φ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ⱼ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⟩</a:t>
            </a:r>
            <a:endParaRPr lang="en-US" sz="2200" dirty="0"/>
          </a:p>
        </p:txBody>
      </p:sp>
      <p:pic>
        <p:nvPicPr>
          <p:cNvPr id="12" name="Image 1" descr="H = H^{†} = ∑_{j} λ_{j} |φ_{j}⟩⟨φ_{j}|">    </p:cNvPr>
          <p:cNvPicPr>
            <a:picLocks noChangeAspect="1"/>
          </p:cNvPicPr>
          <p:nvPr/>
        </p:nvPicPr>
        <p:blipFill>
          <a:blip r:embed="rId2"/>
          <a:srcRect l="0" r="0" t="-183" b="-183"/>
          <a:stretch/>
        </p:blipFill>
        <p:spPr>
          <a:xfrm>
            <a:off x="812785" y="3971985"/>
            <a:ext cx="10566357" cy="533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Why Unitary?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1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1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 evolutions preserve total probability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1759334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1759334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Definition:</a:t>
            </a:r>
            <a:endParaRPr lang="en-US" sz="2200" dirty="0"/>
          </a:p>
        </p:txBody>
      </p:sp>
      <p:pic>
        <p:nvPicPr>
          <p:cNvPr id="7" name="Image 0" descr="U^{†}U = U U^{†} = I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812785" y="2235510"/>
            <a:ext cx="10566357" cy="5778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8356" y="2940258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11212" y="2940258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 preserved:</a:t>
            </a:r>
            <a:endParaRPr lang="en-US" sz="2200" dirty="0"/>
          </a:p>
        </p:txBody>
      </p:sp>
      <p:pic>
        <p:nvPicPr>
          <p:cNvPr id="10" name="Image 1" descr="⟨ψ′|ψ′⟩ = ⟨ψ|U^{†}U|ψ⟩ = ⟨ψ|ψ⟩ = 1">    </p:cNvPr>
          <p:cNvPicPr>
            <a:picLocks noChangeAspect="1"/>
          </p:cNvPicPr>
          <p:nvPr/>
        </p:nvPicPr>
        <p:blipFill>
          <a:blip r:embed="rId2"/>
          <a:srcRect l="0" r="0" t="-183" b="-183"/>
          <a:stretch/>
        </p:blipFill>
        <p:spPr>
          <a:xfrm>
            <a:off x="812785" y="3416433"/>
            <a:ext cx="10566357" cy="5333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8356" y="4076716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11212" y="4076716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Reversible: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inverse exists and equals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†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Hamiltonians Generate Unitaries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1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1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</a:t>
            </a:r>
            <a:r>
              <a:rPr lang="en-US" sz="2700" i="1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</a:t>
            </a: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Hermitian, then </a:t>
            </a:r>
            <a:r>
              <a:rPr lang="en-US" sz="2700" i="1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</a:t>
            </a: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(θ) is unitary</a:t>
            </a:r>
            <a:endParaRPr lang="en-US" sz="2700" dirty="0"/>
          </a:p>
        </p:txBody>
      </p:sp>
      <p:pic>
        <p:nvPicPr>
          <p:cNvPr id="5" name="Image 0" descr="U(θ) = e^{−iθH} = ∑_{j} e^{−iθλ_{j}} |φ_{j}⟩⟨φ_{j}|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812785" y="1759331"/>
            <a:ext cx="10566357" cy="5778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356" y="2464079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11212" y="2464079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Eigenvectors are unchanged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68356" y="2940255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11212" y="2940255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eigenvalue λ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ⱼ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becomes a phase on the unit circle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68356" y="3416433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11212" y="3416433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Hamiltonian is a recipe for phases; the angle θ sets how far we turn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The Cost Hamiltonian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1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1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Diagonal in the computational basis</a:t>
            </a:r>
            <a:endParaRPr lang="en-US" sz="2700" dirty="0"/>
          </a:p>
        </p:txBody>
      </p:sp>
      <p:pic>
        <p:nvPicPr>
          <p:cNvPr id="5" name="Image 0" descr="H_{C} = ∑_{x} C(x) |x⟩⟨x|">    </p:cNvPr>
          <p:cNvPicPr>
            <a:picLocks noChangeAspect="1"/>
          </p:cNvPicPr>
          <p:nvPr/>
        </p:nvPicPr>
        <p:blipFill>
          <a:blip r:embed="rId1"/>
          <a:srcRect l="0" r="0" t="-183" b="-183"/>
          <a:stretch/>
        </p:blipFill>
        <p:spPr>
          <a:xfrm>
            <a:off x="812785" y="1759334"/>
            <a:ext cx="10566357" cy="5333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356" y="2419617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11212" y="2419617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Expectation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exactly the expected cost</a:t>
            </a:r>
            <a:endParaRPr lang="en-US" sz="2200" dirty="0"/>
          </a:p>
        </p:txBody>
      </p:sp>
      <p:pic>
        <p:nvPicPr>
          <p:cNvPr id="8" name="Image 1" descr="⟨ψ|H_{C}|ψ⟩ = ∑_{x} P(x) C(x)">    </p:cNvPr>
          <p:cNvPicPr>
            <a:picLocks noChangeAspect="1"/>
          </p:cNvPicPr>
          <p:nvPr/>
        </p:nvPicPr>
        <p:blipFill>
          <a:blip r:embed="rId2"/>
          <a:srcRect l="0" r="0" t="-183" b="-183"/>
          <a:stretch/>
        </p:blipFill>
        <p:spPr>
          <a:xfrm>
            <a:off x="812785" y="2895792"/>
            <a:ext cx="10566357" cy="533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2785" y="3556074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1155641" y="3556074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unitary acts by phases only</a:t>
            </a:r>
            <a:endParaRPr lang="en-US" sz="2700" dirty="0"/>
          </a:p>
        </p:txBody>
      </p:sp>
      <p:pic>
        <p:nvPicPr>
          <p:cNvPr id="11" name="Image 2" descr="U_{C}(γ) |x⟩ = e^{−iγC(x)} |x⟩">    </p:cNvPr>
          <p:cNvPicPr>
            <a:picLocks noChangeAspect="1"/>
          </p:cNvPicPr>
          <p:nvPr/>
        </p:nvPicPr>
        <p:blipFill>
          <a:blip r:embed="rId3"/>
          <a:srcRect l="0" r="0" t="-183" b="-183"/>
          <a:stretch/>
        </p:blipFill>
        <p:spPr>
          <a:xfrm>
            <a:off x="812785" y="4111628"/>
            <a:ext cx="10566357" cy="5333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The Mixer Hamiltonian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1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1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 transverse-field mixer</a:t>
            </a:r>
            <a:endParaRPr lang="en-US" sz="2700" dirty="0"/>
          </a:p>
        </p:txBody>
      </p:sp>
      <p:pic>
        <p:nvPicPr>
          <p:cNvPr id="5" name="Image 0" descr="H_{M} = ∑_{j} X_{j}, U_{M}(β) = e^{−iβH_{M}} = ∏_{j} e^{−iβX_{j}}">    </p:cNvPr>
          <p:cNvPicPr>
            <a:picLocks noChangeAspect="1"/>
          </p:cNvPicPr>
          <p:nvPr/>
        </p:nvPicPr>
        <p:blipFill>
          <a:blip r:embed="rId1"/>
          <a:srcRect l="0" r="0" t="-228" b="-228"/>
          <a:stretch/>
        </p:blipFill>
        <p:spPr>
          <a:xfrm>
            <a:off x="812785" y="1759331"/>
            <a:ext cx="10566357" cy="507927"/>
          </a:xfrm>
          <a:prstGeom prst="rect">
            <a:avLst/>
          </a:prstGeom>
        </p:spPr>
      </p:pic>
      <p:pic>
        <p:nvPicPr>
          <p:cNvPr id="6" name="Image 1" descr="e^{−iβX} = cos β · I − i sin β · X">    </p:cNvPr>
          <p:cNvPicPr>
            <a:picLocks noChangeAspect="1"/>
          </p:cNvPicPr>
          <p:nvPr/>
        </p:nvPicPr>
        <p:blipFill>
          <a:blip r:embed="rId2"/>
          <a:srcRect l="0" r="0" t="-183" b="-183"/>
          <a:stretch/>
        </p:blipFill>
        <p:spPr>
          <a:xfrm>
            <a:off x="812785" y="2394186"/>
            <a:ext cx="10566357" cy="5333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356" y="3054468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511212" y="3054468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rotation mixes |0⟩ and |1⟩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68356" y="3530643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11212" y="3530643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turns phase differences into amplitude differences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The QAOA Circuit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4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4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Alternate cost and mixer layers, </a:t>
            </a:r>
            <a:r>
              <a:rPr lang="en-US" sz="2700" i="1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times</a:t>
            </a:r>
            <a:endParaRPr lang="en-US" sz="2700" dirty="0"/>
          </a:p>
        </p:txBody>
      </p:sp>
      <p:pic>
        <p:nvPicPr>
          <p:cNvPr id="5" name="Image 0" descr="|ψ_{p}⟩ = U_{M}(β_{p}) U_{C}(γ_{p}) ⋯ U_{M}(β_{1}) U_{C}(γ_{1}) |+⟩^{⊗q}">    </p:cNvPr>
          <p:cNvPicPr>
            <a:picLocks noChangeAspect="1"/>
          </p:cNvPicPr>
          <p:nvPr/>
        </p:nvPicPr>
        <p:blipFill>
          <a:blip r:embed="rId1"/>
          <a:srcRect l="-87" r="-87" t="0" b="0"/>
          <a:stretch/>
        </p:blipFill>
        <p:spPr>
          <a:xfrm>
            <a:off x="812785" y="1759334"/>
            <a:ext cx="10566357" cy="4635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5" y="2349798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155641" y="2349798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Minimize the expected cost over the angles</a:t>
            </a:r>
            <a:endParaRPr lang="en-US" sz="2700" dirty="0"/>
          </a:p>
        </p:txBody>
      </p:sp>
      <p:pic>
        <p:nvPicPr>
          <p:cNvPr id="8" name="Image 1" descr="M_{p} = min_{γ,β} ⟨ψ_{p}|H_{C}|ψ_{p}⟩">    </p:cNvPr>
          <p:cNvPicPr>
            <a:picLocks noChangeAspect="1"/>
          </p:cNvPicPr>
          <p:nvPr/>
        </p:nvPicPr>
        <p:blipFill>
          <a:blip r:embed="rId2"/>
          <a:srcRect l="0" r="0" t="-183" b="-183"/>
          <a:stretch/>
        </p:blipFill>
        <p:spPr>
          <a:xfrm>
            <a:off x="812785" y="2905348"/>
            <a:ext cx="10566357" cy="533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8356" y="3565630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11212" y="3565630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classical optimizer tunes the 2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angles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168356" y="4041806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11212" y="4041806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quantum device only prepares the state and measures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Why Alternate?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78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78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layer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1759328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1759328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Encodes the problem in phases, invisible on their own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785" y="2235504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55641" y="2235504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Mixer layer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68356" y="2791061"/>
            <a:ext cx="27937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11212" y="2791061"/>
            <a:ext cx="981067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Interference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converts phase differences into amplitude differences, so low-cost strings gain probability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2785" y="3616486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55641" y="3616486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Depth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168356" y="4172037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11212" y="4172037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optimal angles, depth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+1 does at least as well as depth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68356" y="4648212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11212" y="4648212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∞, QAOA can approximate adiabatic evolution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Mixers as Graphs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78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78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i="1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</a:t>
            </a: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ₘ as the adjacency matrix of a graph on feasible states</a:t>
            </a:r>
            <a:endParaRPr lang="en-US" sz="2700" dirty="0"/>
          </a:p>
        </p:txBody>
      </p:sp>
      <p:pic>
        <p:nvPicPr>
          <p:cNvPr id="5" name="Image 0" descr="(H_{M})_{xy} = 1 if x ∼ y, 0 otherwise">    </p:cNvPr>
          <p:cNvPicPr>
            <a:picLocks noChangeAspect="1"/>
          </p:cNvPicPr>
          <p:nvPr/>
        </p:nvPicPr>
        <p:blipFill>
          <a:blip r:embed="rId1"/>
          <a:srcRect l="0" r="0" t="-183" b="-183"/>
          <a:stretch/>
        </p:blipFill>
        <p:spPr>
          <a:xfrm>
            <a:off x="812785" y="1759334"/>
            <a:ext cx="10566357" cy="5333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356" y="2419617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11212" y="2419617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^(−iβ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ₘ) is a continuous-time </a:t>
            </a: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quantum walk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68356" y="2895792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11212" y="2895792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Hypercube: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single bit flips (the standard X mixer)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68356" y="3371968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11212" y="3371968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graph: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all-to-all moves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68356" y="3848143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511212" y="3848143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Cycle, torus: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local rings and grids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68356" y="4324319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511212" y="4324319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XY-type: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fixed Hamming weight for constrained problems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Choosing a Mixer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4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4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Usually guided by convention or hardware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1759334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1759334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question: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can the mixer spectrum give a cost-agnostic criterion?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785" y="2235510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55641" y="2235510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spectral heuristics, from quantum-walk mixing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68356" y="2791061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11212" y="2791061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Hamiltonian gap:</a:t>
            </a:r>
            <a:endParaRPr lang="en-US" sz="2200" dirty="0"/>
          </a:p>
        </p:txBody>
      </p:sp>
      <p:pic>
        <p:nvPicPr>
          <p:cNvPr id="11" name="Image 0" descr="Δ̃ = min |λ̃_{i} − λ̃_{j}|, λ̃ = λ / ‖H_{M}‖">    </p:cNvPr>
          <p:cNvPicPr>
            <a:picLocks noChangeAspect="1"/>
          </p:cNvPicPr>
          <p:nvPr/>
        </p:nvPicPr>
        <p:blipFill>
          <a:blip r:embed="rId1"/>
          <a:srcRect l="-128" r="-128" t="0" b="0"/>
          <a:stretch/>
        </p:blipFill>
        <p:spPr>
          <a:xfrm>
            <a:off x="812785" y="3267236"/>
            <a:ext cx="10566357" cy="4888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68356" y="3883056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511212" y="3883056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Unitary gap:</a:t>
            </a:r>
            <a:endParaRPr lang="en-US" sz="2200" dirty="0"/>
          </a:p>
        </p:txBody>
      </p:sp>
      <p:pic>
        <p:nvPicPr>
          <p:cNvPr id="14" name="Image 1" descr="δ_{∞} = lim_{B→∞} (1/B) ∫_{0}^{B} min |e^{−iβλ_{i}} − e^{−iβλ_{j}}| dβ">    </p:cNvPr>
          <p:cNvPicPr>
            <a:picLocks noChangeAspect="1"/>
          </p:cNvPicPr>
          <p:nvPr/>
        </p:nvPicPr>
        <p:blipFill>
          <a:blip r:embed="rId2"/>
          <a:srcRect l="0" r="0" t="-139" b="-139"/>
          <a:stretch/>
        </p:blipFill>
        <p:spPr>
          <a:xfrm>
            <a:off x="812785" y="4359232"/>
            <a:ext cx="10566357" cy="4190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68356" y="4905232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511212" y="4905232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Heuristics, not mixing-time bounds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Spectral Results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4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4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mixer topologies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768742"/>
          <a:ext cx="8880521" cy="2485246"/>
        </p:xfrm>
        <a:graphic>
          <a:graphicData uri="http://schemas.openxmlformats.org/drawingml/2006/table">
            <a:tbl>
              <a:tblPr/>
              <a:tblGrid>
                <a:gridCol w="2960174"/>
                <a:gridCol w="2960174"/>
                <a:gridCol w="2960174"/>
              </a:tblGrid>
              <a:tr h="497049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Mixer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Δ̃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δ∞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97049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Θ(1)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4/π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049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Hypercube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Θ(1/log N)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Θ(1/log N)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049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Cycle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Θ(1/N²)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O(1/N)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049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2-D torus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O(1/N)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O(1/√N)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68356" y="4380917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11212" y="4380917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for the complete graph and hypercube; the rest are upper bounds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Spectrum vs. Performance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78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78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Random-energy costs (no preferred geometry)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1759328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1759328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&gt; hypercube &gt; torus ≈ cycle, </a:t>
            </a: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consistent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the spectral ordering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785" y="2235510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55641" y="2235510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1-D and 2-D Ising costs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68356" y="2791061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11212" y="2791061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Hypercube matches or beats the complete graph despite smaller gaps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68356" y="3267236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11212" y="3267236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Mixer–cost alignment</a:t>
            </a: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matters, and eigenvalues cannot see it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68356" y="3743412"/>
            <a:ext cx="27937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11212" y="3743412"/>
            <a:ext cx="981067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Takeaway: a useful first screen, not a replacement for matching the mixer to the problem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5" y="406357"/>
            <a:ext cx="10883348" cy="695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000000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Summary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785" y="1203784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5641" y="1203784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Quantum states are vectors; valid evolutions are unitary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8356" y="1759334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11212" y="1759334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QAOA alternates a cost unitary (phases) with a mixer unitary (amplitude flow)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68356" y="2235510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11212" y="2235510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classical optimizer tunes the angles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68356" y="2711686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11212" y="2711686"/>
            <a:ext cx="98106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mixer is a graph on bit strings, and its choice matters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68356" y="3187861"/>
            <a:ext cx="27937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11212" y="3187861"/>
            <a:ext cx="10680788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Spectral gaps give a quick first screen of mixers; alignment with the cost matters too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785" y="3664037"/>
            <a:ext cx="27937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55641" y="3664037"/>
            <a:ext cx="981067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C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Questions?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AOA Mixers: Spectral Metrics Talk">
  <a:themeElements>
    <a:clrScheme name="QAOA Mixers: Spectral Metrics Talk">
      <a:dk1>
        <a:srgbClr val="000000"/>
      </a:dk1>
      <a:lt1>
        <a:srgbClr val="FFFFFF"/>
      </a:lt1>
      <a:dk2>
        <a:srgbClr val="404040"/>
      </a:dk2>
      <a:lt2>
        <a:srgbClr val="E6E6E6"/>
      </a:lt2>
      <a:accent1>
        <a:srgbClr val="C00000"/>
      </a:accent1>
      <a:accent2>
        <a:srgbClr val="9AA0A6"/>
      </a:accent2>
      <a:accent3>
        <a:srgbClr val="666666"/>
      </a:accent3>
      <a:accent4>
        <a:srgbClr val="8C8C8C"/>
      </a:accent4>
      <a:accent5>
        <a:srgbClr val="B3B3B3"/>
      </a:accent5>
      <a:accent6>
        <a:srgbClr val="CCCCCC"/>
      </a:accent6>
      <a:hlink>
        <a:srgbClr val="0563C1"/>
      </a:hlink>
      <a:folHlink>
        <a:srgbClr val="954F72"/>
      </a:folHlink>
    </a:clrScheme>
    <a:fontScheme name="QAOA Mixers: Spectral Metrics Talk">
      <a:majorFont>
        <a:latin typeface="Calade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QAOA Mixers: Spectral Metrics Talk</dc:title>
  <dc:subject/>
  <dc:creator/>
  <cp:lastModifiedBy/>
  <cp:revision>1</cp:revision>
  <dcterms:created xsi:type="dcterms:W3CDTF">2026-10-16T05:18:04Z</dcterms:created>
  <dcterms:modified xsi:type="dcterms:W3CDTF">2026-10-16T05:18:04Z</dcterms:modified>
</cp:coreProperties>
</file>